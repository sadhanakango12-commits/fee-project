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 id="262" r:id="rId8"/>
    <p:sldId id="263" r:id="rId9"/>
    <p:sldId id="265"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p:scale>
          <a:sx n="72" d="100"/>
          <a:sy n="72" d="100"/>
        </p:scale>
        <p:origin x="380"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11:44:24.079"/>
    </inkml:context>
    <inkml:brush xml:id="br0">
      <inkml:brushProperty name="width" value="0.05" units="cm"/>
      <inkml:brushProperty name="height" value="0.05" units="cm"/>
      <inkml:brushProperty name="color" value="#AE198D"/>
      <inkml:brushProperty name="inkEffects" value="galaxy"/>
      <inkml:brushProperty name="anchorX" value="-2014.70923"/>
      <inkml:brushProperty name="anchorY" value="-2569.36621"/>
      <inkml:brushProperty name="scaleFactor" value="0.5"/>
    </inkml:brush>
  </inkml:definitions>
  <inkml:trace contextRef="#ctx0" brushRef="#br0">0 0 24575,'0'0'0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E6F237-191D-4DC5-A361-D150D3E3B4C1}" type="datetimeFigureOut">
              <a:rPr lang="en-US" smtClean="0"/>
              <a:t>3/31/2026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C99180B-B135-4462-84B9-CD6E3349000A}"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11686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E6F237-191D-4DC5-A361-D150D3E3B4C1}"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99180B-B135-4462-84B9-CD6E3349000A}"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93865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E6F237-191D-4DC5-A361-D150D3E3B4C1}"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99180B-B135-4462-84B9-CD6E3349000A}"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1400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E6F237-191D-4DC5-A361-D150D3E3B4C1}"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99180B-B135-4462-84B9-CD6E3349000A}"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6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E6F237-191D-4DC5-A361-D150D3E3B4C1}"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99180B-B135-4462-84B9-CD6E3349000A}"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7811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E6F237-191D-4DC5-A361-D150D3E3B4C1}"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99180B-B135-4462-84B9-CD6E3349000A}"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81061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E6F237-191D-4DC5-A361-D150D3E3B4C1}"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99180B-B135-4462-84B9-CD6E3349000A}" type="slidenum">
              <a:rPr lang="en-US" smtClean="0"/>
              <a:t>‹#›</a:t>
            </a:fld>
            <a:endParaRPr lang="en-US"/>
          </a:p>
        </p:txBody>
      </p:sp>
    </p:spTree>
    <p:extLst>
      <p:ext uri="{BB962C8B-B14F-4D97-AF65-F5344CB8AC3E}">
        <p14:creationId xmlns:p14="http://schemas.microsoft.com/office/powerpoint/2010/main" val="379208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E6F237-191D-4DC5-A361-D150D3E3B4C1}"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99180B-B135-4462-84B9-CD6E3349000A}"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78167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3E6F237-191D-4DC5-A361-D150D3E3B4C1}" type="datetimeFigureOut">
              <a:rPr lang="en-US" smtClean="0"/>
              <a:t>3/31/2026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C99180B-B135-4462-84B9-CD6E3349000A}"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93099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E6F237-191D-4DC5-A361-D150D3E3B4C1}"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99180B-B135-4462-84B9-CD6E3349000A}"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53807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E6F237-191D-4DC5-A361-D150D3E3B4C1}"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99180B-B135-4462-84B9-CD6E3349000A}"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61709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3E6F237-191D-4DC5-A361-D150D3E3B4C1}" type="datetimeFigureOut">
              <a:rPr lang="en-US" smtClean="0"/>
              <a:t>3/31/2026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C99180B-B135-4462-84B9-CD6E3349000A}"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84218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0AB17F6-592B-45CB-96F6-705C9825A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247F27-CBE6-23EC-691C-FA86C8D596D4}"/>
              </a:ext>
            </a:extLst>
          </p:cNvPr>
          <p:cNvSpPr>
            <a:spLocks noGrp="1"/>
          </p:cNvSpPr>
          <p:nvPr>
            <p:ph type="ctrTitle"/>
          </p:nvPr>
        </p:nvSpPr>
        <p:spPr>
          <a:xfrm>
            <a:off x="5039068" y="802298"/>
            <a:ext cx="6015784" cy="5116985"/>
          </a:xfrm>
        </p:spPr>
        <p:txBody>
          <a:bodyPr anchor="ctr">
            <a:normAutofit/>
          </a:bodyPr>
          <a:lstStyle/>
          <a:p>
            <a:r>
              <a:rPr lang="en-US" dirty="0" err="1">
                <a:latin typeface="Copperplate Gothic Bold" panose="020E0705020206020404" pitchFamily="34" charset="0"/>
              </a:rPr>
              <a:t>UniSwap</a:t>
            </a:r>
            <a:endParaRPr lang="en-US" dirty="0">
              <a:latin typeface="Copperplate Gothic Bold" panose="020E0705020206020404" pitchFamily="34" charset="0"/>
            </a:endParaRPr>
          </a:p>
        </p:txBody>
      </p:sp>
      <p:sp>
        <p:nvSpPr>
          <p:cNvPr id="3" name="Subtitle 2">
            <a:extLst>
              <a:ext uri="{FF2B5EF4-FFF2-40B4-BE49-F238E27FC236}">
                <a16:creationId xmlns:a16="http://schemas.microsoft.com/office/drawing/2014/main" id="{657A1FB0-D47B-7E9B-AA7B-5289EBBD8F71}"/>
              </a:ext>
            </a:extLst>
          </p:cNvPr>
          <p:cNvSpPr>
            <a:spLocks noGrp="1"/>
          </p:cNvSpPr>
          <p:nvPr>
            <p:ph type="subTitle" idx="1"/>
          </p:nvPr>
        </p:nvSpPr>
        <p:spPr>
          <a:xfrm>
            <a:off x="868352" y="802298"/>
            <a:ext cx="3401174" cy="5116985"/>
          </a:xfrm>
        </p:spPr>
        <p:txBody>
          <a:bodyPr anchor="ctr">
            <a:normAutofit/>
          </a:bodyPr>
          <a:lstStyle/>
          <a:p>
            <a:pPr algn="r"/>
            <a:r>
              <a:rPr lang="en-US" sz="1500" dirty="0"/>
              <a:t>Our website is a campus-based marketplace designed for Chitkara University students.</a:t>
            </a:r>
            <a:br>
              <a:rPr lang="en-US" sz="1500" dirty="0"/>
            </a:br>
            <a:r>
              <a:rPr lang="en-US" sz="1500" dirty="0"/>
              <a:t>It allows users to </a:t>
            </a:r>
            <a:r>
              <a:rPr lang="en-US" sz="1500" b="1" dirty="0"/>
              <a:t>buy, sell, and exchange items easily within the campus</a:t>
            </a:r>
            <a:r>
              <a:rPr lang="en-US" sz="1500" dirty="0"/>
              <a:t>.</a:t>
            </a:r>
          </a:p>
          <a:p>
            <a:pPr algn="r"/>
            <a:r>
              <a:rPr lang="en-US" sz="1500" dirty="0"/>
              <a:t>The platform helps students find </a:t>
            </a:r>
            <a:r>
              <a:rPr lang="en-US" sz="1500" b="1" dirty="0"/>
              <a:t>affordable products</a:t>
            </a:r>
            <a:r>
              <a:rPr lang="en-US" sz="1500" dirty="0"/>
              <a:t>, sell unused items, and connect with </a:t>
            </a:r>
            <a:r>
              <a:rPr lang="en-US" sz="1500" b="1" dirty="0"/>
              <a:t>trusted buyers and sellers nearby</a:t>
            </a:r>
            <a:r>
              <a:rPr lang="en-US" sz="1500" dirty="0"/>
              <a:t>.</a:t>
            </a:r>
          </a:p>
          <a:p>
            <a:pPr algn="r"/>
            <a:r>
              <a:rPr lang="en-US" sz="1500" dirty="0"/>
              <a:t>With a </a:t>
            </a:r>
            <a:r>
              <a:rPr lang="en-US" sz="1500" b="1" dirty="0"/>
              <a:t>simple, user-friendly interface</a:t>
            </a:r>
            <a:r>
              <a:rPr lang="en-US" sz="1500" dirty="0"/>
              <a:t>, our website makes transactions quick, safe, and convenient—creating a smart and sustainable student community.</a:t>
            </a:r>
          </a:p>
          <a:p>
            <a:pPr algn="r"/>
            <a:endParaRPr lang="en-US" sz="1500" dirty="0"/>
          </a:p>
        </p:txBody>
      </p:sp>
      <p:cxnSp>
        <p:nvCxnSpPr>
          <p:cNvPr id="23" name="Straight Connector 22">
            <a:extLst>
              <a:ext uri="{FF2B5EF4-FFF2-40B4-BE49-F238E27FC236}">
                <a16:creationId xmlns:a16="http://schemas.microsoft.com/office/drawing/2014/main" id="{5A9284E7-0823-472D-9963-18D89DFEB8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760590"/>
            <a:ext cx="0" cy="3200400"/>
          </a:xfrm>
          <a:prstGeom prst="line">
            <a:avLst/>
          </a:prstGeom>
          <a:ln w="349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8363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A8EE2AE9-E9E8-E25F-A65C-27337CF86CC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9977"/>
          <a:stretch>
            <a:fillRect/>
          </a:stretch>
        </p:blipFill>
        <p:spPr>
          <a:xfrm>
            <a:off x="2" y="10"/>
            <a:ext cx="6094409" cy="6857990"/>
          </a:xfrm>
          <a:prstGeom prst="rect">
            <a:avLst/>
          </a:prstGeom>
        </p:spPr>
      </p:pic>
      <p:pic>
        <p:nvPicPr>
          <p:cNvPr id="13" name="Picture 12">
            <a:extLst>
              <a:ext uri="{FF2B5EF4-FFF2-40B4-BE49-F238E27FC236}">
                <a16:creationId xmlns:a16="http://schemas.microsoft.com/office/drawing/2014/main" id="{E1CB3D64-EB7E-CE5A-7713-2B7AC426E209}"/>
              </a:ext>
            </a:extLst>
          </p:cNvPr>
          <p:cNvPicPr>
            <a:picLocks noChangeAspect="1"/>
          </p:cNvPicPr>
          <p:nvPr/>
        </p:nvPicPr>
        <p:blipFill>
          <a:blip r:embed="rId3">
            <a:extLst>
              <a:ext uri="{28A0092B-C50C-407E-A947-70E740481C1C}">
                <a14:useLocalDpi xmlns:a14="http://schemas.microsoft.com/office/drawing/2010/main" val="0"/>
              </a:ext>
            </a:extLst>
          </a:blip>
          <a:srcRect b="16166"/>
          <a:stretch>
            <a:fillRect/>
          </a:stretch>
        </p:blipFill>
        <p:spPr>
          <a:xfrm>
            <a:off x="6096051" y="10"/>
            <a:ext cx="6094409" cy="6857990"/>
          </a:xfrm>
          <a:prstGeom prst="rect">
            <a:avLst/>
          </a:prstGeom>
        </p:spPr>
      </p:pic>
      <p:sp>
        <p:nvSpPr>
          <p:cNvPr id="20" name="Rectangle 19">
            <a:extLst>
              <a:ext uri="{FF2B5EF4-FFF2-40B4-BE49-F238E27FC236}">
                <a16:creationId xmlns:a16="http://schemas.microsoft.com/office/drawing/2014/main" id="{D3356D18-B5E6-44B1-ADBC-7094E0DCC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87192" y="1353662"/>
            <a:ext cx="4414440" cy="4150676"/>
          </a:xfrm>
          <a:prstGeom prst="rect">
            <a:avLst/>
          </a:prstGeom>
          <a:solidFill>
            <a:srgbClr val="000001">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BE7A374D-06C5-4ECA-9F91-7183DD3D8A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3127" y="2579935"/>
            <a:ext cx="4070579" cy="0"/>
          </a:xfrm>
          <a:prstGeom prst="line">
            <a:avLst/>
          </a:prstGeom>
          <a:ln w="31750">
            <a:solidFill>
              <a:srgbClr val="FF9B00"/>
            </a:solidFill>
          </a:ln>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33185ECF-9A74-DAE8-41CD-3C633D805A03}"/>
              </a:ext>
            </a:extLst>
          </p:cNvPr>
          <p:cNvSpPr>
            <a:spLocks noGrp="1"/>
          </p:cNvSpPr>
          <p:nvPr>
            <p:ph type="title"/>
          </p:nvPr>
        </p:nvSpPr>
        <p:spPr>
          <a:xfrm>
            <a:off x="4053128" y="1530700"/>
            <a:ext cx="4070578" cy="1049235"/>
          </a:xfrm>
        </p:spPr>
        <p:txBody>
          <a:bodyPr vert="horz" lIns="91440" tIns="45720" rIns="91440" bIns="45720" rtlCol="0" anchor="ctr">
            <a:normAutofit/>
          </a:bodyPr>
          <a:lstStyle/>
          <a:p>
            <a:pPr algn="ctr"/>
            <a:r>
              <a:rPr lang="en-US">
                <a:solidFill>
                  <a:srgbClr val="FFFFFE"/>
                </a:solidFill>
              </a:rPr>
              <a:t>Problem We Identified</a:t>
            </a:r>
          </a:p>
        </p:txBody>
      </p:sp>
      <p:sp>
        <p:nvSpPr>
          <p:cNvPr id="15" name="TextBox 14">
            <a:extLst>
              <a:ext uri="{FF2B5EF4-FFF2-40B4-BE49-F238E27FC236}">
                <a16:creationId xmlns:a16="http://schemas.microsoft.com/office/drawing/2014/main" id="{0D86C632-1946-56EA-6827-337AC13569B3}"/>
              </a:ext>
            </a:extLst>
          </p:cNvPr>
          <p:cNvSpPr txBox="1"/>
          <p:nvPr/>
        </p:nvSpPr>
        <p:spPr>
          <a:xfrm>
            <a:off x="4053128" y="2723314"/>
            <a:ext cx="4070578" cy="2613612"/>
          </a:xfrm>
          <a:prstGeom prst="rect">
            <a:avLst/>
          </a:prstGeom>
        </p:spPr>
        <p:txBody>
          <a:bodyPr vert="horz" lIns="91440" tIns="45720" rIns="91440" bIns="45720" rtlCol="0" anchor="t">
            <a:normAutofit/>
          </a:bodyPr>
          <a:lstStyle/>
          <a:p>
            <a:pPr indent="-228600" defTabSz="914400">
              <a:lnSpc>
                <a:spcPct val="110000"/>
              </a:lnSpc>
              <a:spcAft>
                <a:spcPts val="600"/>
              </a:spcAft>
              <a:buClr>
                <a:srgbClr val="FF9B00"/>
              </a:buClr>
              <a:buSzPct val="100000"/>
              <a:buFont typeface="Arial" panose="020B0604020202020204" pitchFamily="34" charset="0"/>
              <a:buChar char="•"/>
            </a:pPr>
            <a:r>
              <a:rPr lang="en-US" sz="1500">
                <a:solidFill>
                  <a:srgbClr val="FFFFFE"/>
                </a:solidFill>
              </a:rPr>
              <a:t>Students often rely on WhatsApp groups to buy or sell items within the campus, but this method is not efficient. Messages frequently get lost in long chats, and responses are often delayed or not received at all. It becomes difficult to find reliable sellers or buyers at the right time, leading to frustration and wasted effort. This unorganized communication system makes the entire process time-consuming and inconvenient for students.</a:t>
            </a:r>
          </a:p>
        </p:txBody>
      </p:sp>
    </p:spTree>
    <p:extLst>
      <p:ext uri="{BB962C8B-B14F-4D97-AF65-F5344CB8AC3E}">
        <p14:creationId xmlns:p14="http://schemas.microsoft.com/office/powerpoint/2010/main" val="24952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2" name="Picture 41">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4" name="Straight Connector 43">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16" name="Picture 15">
            <a:extLst>
              <a:ext uri="{FF2B5EF4-FFF2-40B4-BE49-F238E27FC236}">
                <a16:creationId xmlns:a16="http://schemas.microsoft.com/office/drawing/2014/main" id="{A3D3B5A3-A223-791D-68AB-1B1FC2377DB2}"/>
              </a:ext>
            </a:extLst>
          </p:cNvPr>
          <p:cNvPicPr>
            <a:picLocks noChangeAspect="1"/>
          </p:cNvPicPr>
          <p:nvPr/>
        </p:nvPicPr>
        <p:blipFill>
          <a:blip r:embed="rId3">
            <a:extLst>
              <a:ext uri="{28A0092B-C50C-407E-A947-70E740481C1C}">
                <a14:useLocalDpi xmlns:a14="http://schemas.microsoft.com/office/drawing/2010/main" val="0"/>
              </a:ext>
            </a:extLst>
          </a:blip>
          <a:srcRect t="9091" r="9093"/>
          <a:stretch>
            <a:fillRect/>
          </a:stretch>
        </p:blipFill>
        <p:spPr>
          <a:xfrm>
            <a:off x="2" y="10"/>
            <a:ext cx="12191695" cy="6857990"/>
          </a:xfrm>
          <a:prstGeom prst="rect">
            <a:avLst/>
          </a:prstGeom>
        </p:spPr>
      </p:pic>
      <p:sp>
        <p:nvSpPr>
          <p:cNvPr id="48" name="Rectangle 47">
            <a:extLst>
              <a:ext uri="{FF2B5EF4-FFF2-40B4-BE49-F238E27FC236}">
                <a16:creationId xmlns:a16="http://schemas.microsoft.com/office/drawing/2014/main" id="{F2AF0D79-4A1A-4F27-B9F0-CF252C4AC9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8" y="636753"/>
            <a:ext cx="8299435" cy="5572810"/>
          </a:xfrm>
          <a:prstGeom prst="rect">
            <a:avLst/>
          </a:prstGeom>
          <a:solidFill>
            <a:srgbClr val="000001">
              <a:alpha val="749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7712C17-9157-7B4D-40CA-033199A39C9B}"/>
              </a:ext>
            </a:extLst>
          </p:cNvPr>
          <p:cNvSpPr txBox="1"/>
          <p:nvPr/>
        </p:nvSpPr>
        <p:spPr>
          <a:xfrm>
            <a:off x="1304017" y="804520"/>
            <a:ext cx="6815731" cy="1049235"/>
          </a:xfrm>
          <a:prstGeom prst="rect">
            <a:avLst/>
          </a:prstGeom>
        </p:spPr>
        <p:txBody>
          <a:bodyPr vert="horz" lIns="91440" tIns="45720" rIns="91440" bIns="45720" rtlCol="0" anchor="t">
            <a:normAutofit/>
          </a:bodyPr>
          <a:lstStyle/>
          <a:p>
            <a:pPr defTabSz="914400">
              <a:lnSpc>
                <a:spcPct val="90000"/>
              </a:lnSpc>
              <a:spcBef>
                <a:spcPct val="0"/>
              </a:spcBef>
              <a:spcAft>
                <a:spcPts val="600"/>
              </a:spcAft>
            </a:pPr>
            <a:r>
              <a:rPr lang="en-US" sz="3200" cap="all" dirty="0">
                <a:solidFill>
                  <a:srgbClr val="FFFFFE"/>
                </a:solidFill>
                <a:latin typeface="+mj-lt"/>
                <a:ea typeface="+mj-ea"/>
                <a:cs typeface="+mj-cs"/>
              </a:rPr>
              <a:t>Introducing Our Platform</a:t>
            </a:r>
          </a:p>
        </p:txBody>
      </p:sp>
      <p:cxnSp>
        <p:nvCxnSpPr>
          <p:cNvPr id="50" name="Straight Connector 49">
            <a:extLst>
              <a:ext uri="{FF2B5EF4-FFF2-40B4-BE49-F238E27FC236}">
                <a16:creationId xmlns:a16="http://schemas.microsoft.com/office/drawing/2014/main" id="{8E83266B-97F8-4AB9-818F-3A70E8D858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6385" y="1847088"/>
            <a:ext cx="6813363" cy="0"/>
          </a:xfrm>
          <a:prstGeom prst="line">
            <a:avLst/>
          </a:prstGeom>
          <a:ln w="31750">
            <a:solidFill>
              <a:srgbClr val="3B8EFF"/>
            </a:solidFill>
          </a:ln>
        </p:spPr>
        <p:style>
          <a:lnRef idx="3">
            <a:schemeClr val="accent1"/>
          </a:lnRef>
          <a:fillRef idx="0">
            <a:schemeClr val="accent1"/>
          </a:fillRef>
          <a:effectRef idx="2">
            <a:schemeClr val="accent1"/>
          </a:effectRef>
          <a:fontRef idx="minor">
            <a:schemeClr val="tx1"/>
          </a:fontRef>
        </p:style>
      </p:cxnSp>
      <p:sp>
        <p:nvSpPr>
          <p:cNvPr id="5" name="TextBox 4">
            <a:extLst>
              <a:ext uri="{FF2B5EF4-FFF2-40B4-BE49-F238E27FC236}">
                <a16:creationId xmlns:a16="http://schemas.microsoft.com/office/drawing/2014/main" id="{E1551A1D-E148-2842-142E-ABAA9D4C2698}"/>
              </a:ext>
            </a:extLst>
          </p:cNvPr>
          <p:cNvSpPr txBox="1"/>
          <p:nvPr/>
        </p:nvSpPr>
        <p:spPr>
          <a:xfrm>
            <a:off x="1304017" y="2015733"/>
            <a:ext cx="6815731" cy="4021267"/>
          </a:xfrm>
          <a:prstGeom prst="rect">
            <a:avLst/>
          </a:prstGeom>
        </p:spPr>
        <p:txBody>
          <a:bodyPr vert="horz" lIns="91440" tIns="45720" rIns="91440" bIns="45720" rtlCol="0" anchor="t">
            <a:normAutofit/>
          </a:bodyPr>
          <a:lstStyle/>
          <a:p>
            <a:pPr indent="-228600" defTabSz="914400">
              <a:lnSpc>
                <a:spcPct val="120000"/>
              </a:lnSpc>
              <a:spcAft>
                <a:spcPts val="600"/>
              </a:spcAft>
              <a:buClr>
                <a:srgbClr val="3B8EFF"/>
              </a:buClr>
              <a:buSzPct val="100000"/>
              <a:buFont typeface="Arial" panose="020B0604020202020204" pitchFamily="34" charset="0"/>
              <a:buChar char="•"/>
            </a:pPr>
            <a:r>
              <a:rPr lang="en-US" dirty="0">
                <a:solidFill>
                  <a:srgbClr val="FFFFFE"/>
                </a:solidFill>
              </a:rPr>
              <a:t>To solve these problems, we developed a dedicated campus marketplace platform where students can easily buy, sell, and exchange items in one place. Our website provides an organized and user-friendly interface where listings are clearly displayed, making it easy to find products quickly without scrolling through endless chats. It ensures better communication, faster responses, and a more reliable way to connect with buyers and sellers within the campus.</a:t>
            </a:r>
          </a:p>
          <a:p>
            <a:pPr indent="-228600" defTabSz="914400">
              <a:lnSpc>
                <a:spcPct val="120000"/>
              </a:lnSpc>
              <a:spcAft>
                <a:spcPts val="600"/>
              </a:spcAft>
              <a:buClr>
                <a:srgbClr val="3B8EFF"/>
              </a:buClr>
              <a:buSzPct val="100000"/>
              <a:buFont typeface="Arial" panose="020B0604020202020204" pitchFamily="34" charset="0"/>
              <a:buChar char="•"/>
            </a:pPr>
            <a:endParaRPr lang="en-US" dirty="0">
              <a:solidFill>
                <a:srgbClr val="FFFFFE"/>
              </a:solidFill>
            </a:endParaRPr>
          </a:p>
        </p:txBody>
      </p:sp>
    </p:spTree>
    <p:extLst>
      <p:ext uri="{BB962C8B-B14F-4D97-AF65-F5344CB8AC3E}">
        <p14:creationId xmlns:p14="http://schemas.microsoft.com/office/powerpoint/2010/main" val="3670427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59762D-4B74-D608-CB93-04AA086D2E2F}"/>
              </a:ext>
            </a:extLst>
          </p:cNvPr>
          <p:cNvSpPr txBox="1"/>
          <p:nvPr/>
        </p:nvSpPr>
        <p:spPr>
          <a:xfrm>
            <a:off x="534145" y="452629"/>
            <a:ext cx="2495550" cy="584775"/>
          </a:xfrm>
          <a:prstGeom prst="rect">
            <a:avLst/>
          </a:prstGeom>
          <a:noFill/>
        </p:spPr>
        <p:txBody>
          <a:bodyPr wrap="square" rtlCol="0">
            <a:spAutoFit/>
          </a:bodyPr>
          <a:lstStyle/>
          <a:p>
            <a:r>
              <a:rPr lang="en-US" sz="3200" dirty="0" err="1">
                <a:latin typeface="Copperplate Gothic Bold" panose="020E0705020206020404" pitchFamily="34" charset="0"/>
              </a:rPr>
              <a:t>OverView</a:t>
            </a:r>
            <a:endParaRPr lang="en-US" sz="3200" dirty="0">
              <a:latin typeface="Copperplate Gothic Bold" panose="020E07050202060204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12" name="Ink 11">
                <a:extLst>
                  <a:ext uri="{FF2B5EF4-FFF2-40B4-BE49-F238E27FC236}">
                    <a16:creationId xmlns:a16="http://schemas.microsoft.com/office/drawing/2014/main" id="{53F671E5-851F-0419-AD57-672A882E7F52}"/>
                  </a:ext>
                </a:extLst>
              </p14:cNvPr>
              <p14:cNvContentPartPr/>
              <p14:nvPr/>
            </p14:nvContentPartPr>
            <p14:xfrm>
              <a:off x="12885450" y="4165455"/>
              <a:ext cx="360" cy="360"/>
            </p14:xfrm>
          </p:contentPart>
        </mc:Choice>
        <mc:Fallback xmlns="">
          <p:pic>
            <p:nvPicPr>
              <p:cNvPr id="12" name="Ink 11">
                <a:extLst>
                  <a:ext uri="{FF2B5EF4-FFF2-40B4-BE49-F238E27FC236}">
                    <a16:creationId xmlns:a16="http://schemas.microsoft.com/office/drawing/2014/main" id="{53F671E5-851F-0419-AD57-672A882E7F52}"/>
                  </a:ext>
                </a:extLst>
              </p:cNvPr>
              <p:cNvPicPr/>
              <p:nvPr/>
            </p:nvPicPr>
            <p:blipFill>
              <a:blip r:embed="rId4"/>
              <a:stretch>
                <a:fillRect/>
              </a:stretch>
            </p:blipFill>
            <p:spPr>
              <a:xfrm>
                <a:off x="12876450" y="4156455"/>
                <a:ext cx="18000" cy="18000"/>
              </a:xfrm>
              <a:prstGeom prst="rect">
                <a:avLst/>
              </a:prstGeom>
            </p:spPr>
          </p:pic>
        </mc:Fallback>
      </mc:AlternateContent>
      <p:sp>
        <p:nvSpPr>
          <p:cNvPr id="25" name="TextBox 24">
            <a:extLst>
              <a:ext uri="{FF2B5EF4-FFF2-40B4-BE49-F238E27FC236}">
                <a16:creationId xmlns:a16="http://schemas.microsoft.com/office/drawing/2014/main" id="{94BC4FE6-8ED8-F03F-68B1-834622A5BF1D}"/>
              </a:ext>
            </a:extLst>
          </p:cNvPr>
          <p:cNvSpPr txBox="1"/>
          <p:nvPr/>
        </p:nvSpPr>
        <p:spPr>
          <a:xfrm>
            <a:off x="1706532" y="3524777"/>
            <a:ext cx="1412566" cy="369332"/>
          </a:xfrm>
          <a:prstGeom prst="rect">
            <a:avLst/>
          </a:prstGeom>
          <a:noFill/>
        </p:spPr>
        <p:txBody>
          <a:bodyPr wrap="none" rtlCol="0">
            <a:spAutoFit/>
          </a:bodyPr>
          <a:lstStyle/>
          <a:p>
            <a:r>
              <a:rPr lang="en-US" dirty="0">
                <a:latin typeface="Congenial SemiBold" panose="02000503040000020004" pitchFamily="2" charset="0"/>
              </a:rPr>
              <a:t>Home Page</a:t>
            </a:r>
          </a:p>
        </p:txBody>
      </p:sp>
      <p:sp>
        <p:nvSpPr>
          <p:cNvPr id="26" name="TextBox 25">
            <a:extLst>
              <a:ext uri="{FF2B5EF4-FFF2-40B4-BE49-F238E27FC236}">
                <a16:creationId xmlns:a16="http://schemas.microsoft.com/office/drawing/2014/main" id="{830C7101-C744-8FFA-BCA1-D2075E3AE113}"/>
              </a:ext>
            </a:extLst>
          </p:cNvPr>
          <p:cNvSpPr txBox="1"/>
          <p:nvPr/>
        </p:nvSpPr>
        <p:spPr>
          <a:xfrm>
            <a:off x="3029695" y="3700172"/>
            <a:ext cx="1933543" cy="369332"/>
          </a:xfrm>
          <a:prstGeom prst="rect">
            <a:avLst/>
          </a:prstGeom>
          <a:noFill/>
        </p:spPr>
        <p:txBody>
          <a:bodyPr wrap="none" rtlCol="0">
            <a:spAutoFit/>
          </a:bodyPr>
          <a:lstStyle/>
          <a:p>
            <a:r>
              <a:rPr lang="en-US" dirty="0">
                <a:latin typeface="Congenial SemiBold" panose="02000503040000020004" pitchFamily="2" charset="0"/>
              </a:rPr>
              <a:t>Categories Page</a:t>
            </a:r>
          </a:p>
        </p:txBody>
      </p:sp>
      <p:sp>
        <p:nvSpPr>
          <p:cNvPr id="29" name="TextBox 28">
            <a:extLst>
              <a:ext uri="{FF2B5EF4-FFF2-40B4-BE49-F238E27FC236}">
                <a16:creationId xmlns:a16="http://schemas.microsoft.com/office/drawing/2014/main" id="{6DF595E8-FFCF-8AF5-1B5B-5DD359E33494}"/>
              </a:ext>
            </a:extLst>
          </p:cNvPr>
          <p:cNvSpPr txBox="1"/>
          <p:nvPr/>
        </p:nvSpPr>
        <p:spPr>
          <a:xfrm>
            <a:off x="4565804" y="3413471"/>
            <a:ext cx="1622560" cy="369332"/>
          </a:xfrm>
          <a:prstGeom prst="rect">
            <a:avLst/>
          </a:prstGeom>
          <a:noFill/>
        </p:spPr>
        <p:txBody>
          <a:bodyPr wrap="none" rtlCol="0">
            <a:spAutoFit/>
          </a:bodyPr>
          <a:lstStyle/>
          <a:p>
            <a:r>
              <a:rPr lang="en-US" dirty="0">
                <a:latin typeface="Congenial SemiBold" panose="02000503040000020004" pitchFamily="2" charset="0"/>
              </a:rPr>
              <a:t>Contact page</a:t>
            </a:r>
          </a:p>
        </p:txBody>
      </p:sp>
      <p:sp>
        <p:nvSpPr>
          <p:cNvPr id="31" name="TextBox 30">
            <a:extLst>
              <a:ext uri="{FF2B5EF4-FFF2-40B4-BE49-F238E27FC236}">
                <a16:creationId xmlns:a16="http://schemas.microsoft.com/office/drawing/2014/main" id="{B0700C75-BAC8-69C8-4DBA-73A340FEFD5A}"/>
              </a:ext>
            </a:extLst>
          </p:cNvPr>
          <p:cNvSpPr txBox="1"/>
          <p:nvPr/>
        </p:nvSpPr>
        <p:spPr>
          <a:xfrm>
            <a:off x="8585988" y="3357629"/>
            <a:ext cx="1388522" cy="369332"/>
          </a:xfrm>
          <a:prstGeom prst="rect">
            <a:avLst/>
          </a:prstGeom>
          <a:noFill/>
        </p:spPr>
        <p:txBody>
          <a:bodyPr wrap="none" rtlCol="0">
            <a:spAutoFit/>
          </a:bodyPr>
          <a:lstStyle/>
          <a:p>
            <a:r>
              <a:rPr lang="en-US" dirty="0">
                <a:latin typeface="Congenial SemiBold" panose="02000503040000020004" pitchFamily="2" charset="0"/>
              </a:rPr>
              <a:t>Login Page</a:t>
            </a:r>
          </a:p>
        </p:txBody>
      </p:sp>
      <p:sp>
        <p:nvSpPr>
          <p:cNvPr id="32" name="TextBox 31">
            <a:extLst>
              <a:ext uri="{FF2B5EF4-FFF2-40B4-BE49-F238E27FC236}">
                <a16:creationId xmlns:a16="http://schemas.microsoft.com/office/drawing/2014/main" id="{7C4AF61A-33CD-44B5-BDCE-84F1DF0F567C}"/>
              </a:ext>
            </a:extLst>
          </p:cNvPr>
          <p:cNvSpPr txBox="1"/>
          <p:nvPr/>
        </p:nvSpPr>
        <p:spPr>
          <a:xfrm>
            <a:off x="10020859" y="3598137"/>
            <a:ext cx="2170787" cy="369332"/>
          </a:xfrm>
          <a:prstGeom prst="rect">
            <a:avLst/>
          </a:prstGeom>
          <a:noFill/>
        </p:spPr>
        <p:txBody>
          <a:bodyPr wrap="none" rtlCol="0">
            <a:spAutoFit/>
          </a:bodyPr>
          <a:lstStyle/>
          <a:p>
            <a:r>
              <a:rPr lang="en-US" dirty="0">
                <a:latin typeface="Congenial SemiBold" panose="02000503040000020004" pitchFamily="2" charset="0"/>
              </a:rPr>
              <a:t>Post to cell or rent</a:t>
            </a:r>
          </a:p>
        </p:txBody>
      </p:sp>
      <p:sp>
        <p:nvSpPr>
          <p:cNvPr id="33" name="TextBox 32">
            <a:extLst>
              <a:ext uri="{FF2B5EF4-FFF2-40B4-BE49-F238E27FC236}">
                <a16:creationId xmlns:a16="http://schemas.microsoft.com/office/drawing/2014/main" id="{052FF498-3180-474A-C2A2-3253559714BB}"/>
              </a:ext>
            </a:extLst>
          </p:cNvPr>
          <p:cNvSpPr txBox="1"/>
          <p:nvPr/>
        </p:nvSpPr>
        <p:spPr>
          <a:xfrm>
            <a:off x="803853" y="4391675"/>
            <a:ext cx="10769022" cy="1200329"/>
          </a:xfrm>
          <a:prstGeom prst="rect">
            <a:avLst/>
          </a:prstGeom>
          <a:noFill/>
        </p:spPr>
        <p:txBody>
          <a:bodyPr wrap="square" rtlCol="0">
            <a:spAutoFit/>
          </a:bodyPr>
          <a:lstStyle/>
          <a:p>
            <a:r>
              <a:rPr lang="en-US" dirty="0"/>
              <a:t>This slide provides an overview of our website’s homepage interface. It highlights the main navigation sections such as Home, Categories, and Contact, along with essential features like search functionality, login option, and the ability to post ads for selling or renting items. The design is simple and user-friendly, allowing students to easily navigate through the platform and access different services efficiently.</a:t>
            </a:r>
          </a:p>
        </p:txBody>
      </p:sp>
      <p:pic>
        <p:nvPicPr>
          <p:cNvPr id="3" name="Picture 2">
            <a:extLst>
              <a:ext uri="{FF2B5EF4-FFF2-40B4-BE49-F238E27FC236}">
                <a16:creationId xmlns:a16="http://schemas.microsoft.com/office/drawing/2014/main" id="{CAFA7B57-885C-73D8-1D0C-0DF0AE2D9BA6}"/>
              </a:ext>
            </a:extLst>
          </p:cNvPr>
          <p:cNvPicPr>
            <a:picLocks noChangeAspect="1"/>
          </p:cNvPicPr>
          <p:nvPr/>
        </p:nvPicPr>
        <p:blipFill>
          <a:blip r:embed="rId5"/>
          <a:stretch>
            <a:fillRect/>
          </a:stretch>
        </p:blipFill>
        <p:spPr>
          <a:xfrm>
            <a:off x="-354" y="1042074"/>
            <a:ext cx="12192000" cy="2178050"/>
          </a:xfrm>
          <a:prstGeom prst="rect">
            <a:avLst/>
          </a:prstGeom>
        </p:spPr>
      </p:pic>
      <p:cxnSp>
        <p:nvCxnSpPr>
          <p:cNvPr id="6" name="Straight Arrow Connector 5">
            <a:extLst>
              <a:ext uri="{FF2B5EF4-FFF2-40B4-BE49-F238E27FC236}">
                <a16:creationId xmlns:a16="http://schemas.microsoft.com/office/drawing/2014/main" id="{DF621EA1-257C-1CB4-4C09-7D3A3C6AD34E}"/>
              </a:ext>
            </a:extLst>
          </p:cNvPr>
          <p:cNvCxnSpPr>
            <a:cxnSpLocks/>
          </p:cNvCxnSpPr>
          <p:nvPr/>
        </p:nvCxnSpPr>
        <p:spPr>
          <a:xfrm flipH="1">
            <a:off x="2315361" y="2483141"/>
            <a:ext cx="343949" cy="10591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E91172F-8C08-F286-B380-4E29025EDD16}"/>
              </a:ext>
            </a:extLst>
          </p:cNvPr>
          <p:cNvCxnSpPr>
            <a:cxnSpLocks/>
          </p:cNvCxnSpPr>
          <p:nvPr/>
        </p:nvCxnSpPr>
        <p:spPr>
          <a:xfrm>
            <a:off x="3544743" y="2361758"/>
            <a:ext cx="0" cy="13384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302853B-50FE-4DB6-E0D7-A88F29398775}"/>
              </a:ext>
            </a:extLst>
          </p:cNvPr>
          <p:cNvCxnSpPr/>
          <p:nvPr/>
        </p:nvCxnSpPr>
        <p:spPr>
          <a:xfrm>
            <a:off x="5092117" y="2314004"/>
            <a:ext cx="0" cy="11149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22305DE-2361-F20C-313C-B17B6C760BAD}"/>
              </a:ext>
            </a:extLst>
          </p:cNvPr>
          <p:cNvCxnSpPr>
            <a:cxnSpLocks/>
          </p:cNvCxnSpPr>
          <p:nvPr/>
        </p:nvCxnSpPr>
        <p:spPr>
          <a:xfrm>
            <a:off x="9630562" y="2427284"/>
            <a:ext cx="0" cy="10354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6D12313-3BE6-68E8-2544-E86E530A9391}"/>
              </a:ext>
            </a:extLst>
          </p:cNvPr>
          <p:cNvCxnSpPr/>
          <p:nvPr/>
        </p:nvCxnSpPr>
        <p:spPr>
          <a:xfrm>
            <a:off x="10981189" y="2431957"/>
            <a:ext cx="0" cy="11149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3922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02DA677-C58A-4FCE-A9A0-E66A42EBD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8" name="Picture 17">
            <a:extLst>
              <a:ext uri="{FF2B5EF4-FFF2-40B4-BE49-F238E27FC236}">
                <a16:creationId xmlns:a16="http://schemas.microsoft.com/office/drawing/2014/main" id="{9D85B319-9C30-4D92-B664-CA444ECD79B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0" name="Straight Connector 19">
            <a:extLst>
              <a:ext uri="{FF2B5EF4-FFF2-40B4-BE49-F238E27FC236}">
                <a16:creationId xmlns:a16="http://schemas.microsoft.com/office/drawing/2014/main" id="{D7573C1E-3785-43C9-A262-1DA9DF97F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5D4A50-6846-431E-A61E-5C6DC099CF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9" name="Picture 8">
            <a:extLst>
              <a:ext uri="{FF2B5EF4-FFF2-40B4-BE49-F238E27FC236}">
                <a16:creationId xmlns:a16="http://schemas.microsoft.com/office/drawing/2014/main" id="{71564D59-4175-168B-3D9B-A2AC85E52A55}"/>
              </a:ext>
            </a:extLst>
          </p:cNvPr>
          <p:cNvPicPr>
            <a:picLocks noChangeAspect="1"/>
          </p:cNvPicPr>
          <p:nvPr/>
        </p:nvPicPr>
        <p:blipFill>
          <a:blip r:embed="rId3">
            <a:extLst>
              <a:ext uri="{28A0092B-C50C-407E-A947-70E740481C1C}">
                <a14:useLocalDpi xmlns:a14="http://schemas.microsoft.com/office/drawing/2010/main" val="0"/>
              </a:ext>
            </a:extLst>
          </a:blip>
          <a:srcRect l="24960" r="25053"/>
          <a:stretch>
            <a:fillRect/>
          </a:stretch>
        </p:blipFill>
        <p:spPr>
          <a:xfrm>
            <a:off x="2" y="10"/>
            <a:ext cx="6094409" cy="6857990"/>
          </a:xfrm>
          <a:prstGeom prst="rect">
            <a:avLst/>
          </a:prstGeom>
        </p:spPr>
      </p:pic>
      <p:pic>
        <p:nvPicPr>
          <p:cNvPr id="3" name="Picture 2">
            <a:extLst>
              <a:ext uri="{FF2B5EF4-FFF2-40B4-BE49-F238E27FC236}">
                <a16:creationId xmlns:a16="http://schemas.microsoft.com/office/drawing/2014/main" id="{49DD5A35-1A7E-FDB9-523E-F4E275B1A4F0}"/>
              </a:ext>
            </a:extLst>
          </p:cNvPr>
          <p:cNvPicPr>
            <a:picLocks noChangeAspect="1"/>
          </p:cNvPicPr>
          <p:nvPr/>
        </p:nvPicPr>
        <p:blipFill>
          <a:blip r:embed="rId4">
            <a:extLst>
              <a:ext uri="{28A0092B-C50C-407E-A947-70E740481C1C}">
                <a14:useLocalDpi xmlns:a14="http://schemas.microsoft.com/office/drawing/2010/main" val="0"/>
              </a:ext>
            </a:extLst>
          </a:blip>
          <a:srcRect l="25113" r="24900"/>
          <a:stretch>
            <a:fillRect/>
          </a:stretch>
        </p:blipFill>
        <p:spPr>
          <a:xfrm>
            <a:off x="6096051" y="10"/>
            <a:ext cx="6094409" cy="6857990"/>
          </a:xfrm>
          <a:prstGeom prst="rect">
            <a:avLst/>
          </a:prstGeom>
        </p:spPr>
      </p:pic>
      <p:sp>
        <p:nvSpPr>
          <p:cNvPr id="24" name="Rectangle 23">
            <a:extLst>
              <a:ext uri="{FF2B5EF4-FFF2-40B4-BE49-F238E27FC236}">
                <a16:creationId xmlns:a16="http://schemas.microsoft.com/office/drawing/2014/main" id="{D3356D18-B5E6-44B1-ADBC-7094E0DCC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87192" y="1353662"/>
            <a:ext cx="4414440" cy="4150676"/>
          </a:xfrm>
          <a:prstGeom prst="rect">
            <a:avLst/>
          </a:prstGeom>
          <a:solidFill>
            <a:srgbClr val="000001">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BE7A374D-06C5-4ECA-9F91-7183DD3D8A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3127" y="2579935"/>
            <a:ext cx="4070579" cy="0"/>
          </a:xfrm>
          <a:prstGeom prst="line">
            <a:avLst/>
          </a:prstGeom>
          <a:ln w="31750">
            <a:solidFill>
              <a:srgbClr val="7A2814"/>
            </a:solidFill>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52B58994-8B83-4FDB-A9C6-638E1CCE2BCD}"/>
              </a:ext>
            </a:extLst>
          </p:cNvPr>
          <p:cNvSpPr txBox="1"/>
          <p:nvPr/>
        </p:nvSpPr>
        <p:spPr>
          <a:xfrm>
            <a:off x="4053128" y="1530700"/>
            <a:ext cx="4070578" cy="104923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cap="all">
                <a:solidFill>
                  <a:srgbClr val="FFFFFE"/>
                </a:solidFill>
                <a:latin typeface="+mj-lt"/>
                <a:ea typeface="+mj-ea"/>
                <a:cs typeface="+mj-cs"/>
              </a:rPr>
              <a:t>Features Of Website</a:t>
            </a:r>
          </a:p>
        </p:txBody>
      </p:sp>
      <p:sp>
        <p:nvSpPr>
          <p:cNvPr id="11" name="TextBox 10">
            <a:extLst>
              <a:ext uri="{FF2B5EF4-FFF2-40B4-BE49-F238E27FC236}">
                <a16:creationId xmlns:a16="http://schemas.microsoft.com/office/drawing/2014/main" id="{D3EC8C70-9AF7-A733-7F2C-82CB661E4545}"/>
              </a:ext>
            </a:extLst>
          </p:cNvPr>
          <p:cNvSpPr txBox="1"/>
          <p:nvPr/>
        </p:nvSpPr>
        <p:spPr>
          <a:xfrm>
            <a:off x="4053128" y="2723314"/>
            <a:ext cx="4070578" cy="2613612"/>
          </a:xfrm>
          <a:prstGeom prst="rect">
            <a:avLst/>
          </a:prstGeom>
        </p:spPr>
        <p:txBody>
          <a:bodyPr vert="horz" lIns="91440" tIns="45720" rIns="91440" bIns="45720" rtlCol="0" anchor="t">
            <a:normAutofit/>
          </a:bodyPr>
          <a:lstStyle/>
          <a:p>
            <a:pPr indent="-228600" defTabSz="914400">
              <a:lnSpc>
                <a:spcPct val="110000"/>
              </a:lnSpc>
              <a:spcAft>
                <a:spcPts val="600"/>
              </a:spcAft>
              <a:buClr>
                <a:srgbClr val="7A2814"/>
              </a:buClr>
              <a:buSzPct val="100000"/>
              <a:buFont typeface="Arial" panose="020B0604020202020204" pitchFamily="34" charset="0"/>
              <a:buChar char="•"/>
            </a:pPr>
            <a:r>
              <a:rPr lang="en-US" sz="1300">
                <a:solidFill>
                  <a:srgbClr val="FFFFFE"/>
                </a:solidFill>
              </a:rPr>
              <a:t>Our website offers a range of useful features designed to make buying and selling simple and efficient for students. Users can easily browse different categories, search for specific products, and view detailed listings in an organized manner. The platform also allows users to post ads for items they want to sell or rent, making it convenient to connect with potential buyers. With a user-friendly interface, quick navigation, and reliable communication, the website ensures a smooth and hassle-free experience for everyone.</a:t>
            </a:r>
          </a:p>
        </p:txBody>
      </p:sp>
    </p:spTree>
    <p:extLst>
      <p:ext uri="{BB962C8B-B14F-4D97-AF65-F5344CB8AC3E}">
        <p14:creationId xmlns:p14="http://schemas.microsoft.com/office/powerpoint/2010/main" val="3236523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93B350-89B6-5658-BF03-F257D53BA37B}"/>
              </a:ext>
            </a:extLst>
          </p:cNvPr>
          <p:cNvPicPr>
            <a:picLocks noChangeAspect="1"/>
          </p:cNvPicPr>
          <p:nvPr/>
        </p:nvPicPr>
        <p:blipFill>
          <a:blip r:embed="rId2">
            <a:extLst>
              <a:ext uri="{28A0092B-C50C-407E-A947-70E740481C1C}">
                <a14:useLocalDpi xmlns:a14="http://schemas.microsoft.com/office/drawing/2010/main" val="0"/>
              </a:ext>
            </a:extLst>
          </a:blip>
          <a:srcRect t="25833" b="7500"/>
          <a:stretch>
            <a:fillRect/>
          </a:stretch>
        </p:blipFill>
        <p:spPr>
          <a:xfrm>
            <a:off x="0" y="1219200"/>
            <a:ext cx="5257800" cy="2771775"/>
          </a:xfrm>
          <a:prstGeom prst="rect">
            <a:avLst/>
          </a:prstGeom>
        </p:spPr>
      </p:pic>
      <p:pic>
        <p:nvPicPr>
          <p:cNvPr id="7" name="Picture 6">
            <a:extLst>
              <a:ext uri="{FF2B5EF4-FFF2-40B4-BE49-F238E27FC236}">
                <a16:creationId xmlns:a16="http://schemas.microsoft.com/office/drawing/2014/main" id="{FE6D214E-0508-C623-03B7-B6241503A5A6}"/>
              </a:ext>
            </a:extLst>
          </p:cNvPr>
          <p:cNvPicPr>
            <a:picLocks noChangeAspect="1"/>
          </p:cNvPicPr>
          <p:nvPr/>
        </p:nvPicPr>
        <p:blipFill>
          <a:blip r:embed="rId3">
            <a:extLst>
              <a:ext uri="{28A0092B-C50C-407E-A947-70E740481C1C}">
                <a14:useLocalDpi xmlns:a14="http://schemas.microsoft.com/office/drawing/2010/main" val="0"/>
              </a:ext>
            </a:extLst>
          </a:blip>
          <a:srcRect l="9296" t="14723" r="9063" b="3611"/>
          <a:stretch>
            <a:fillRect/>
          </a:stretch>
        </p:blipFill>
        <p:spPr>
          <a:xfrm>
            <a:off x="5400675" y="1562100"/>
            <a:ext cx="4581526" cy="2857500"/>
          </a:xfrm>
          <a:prstGeom prst="rect">
            <a:avLst/>
          </a:prstGeom>
        </p:spPr>
      </p:pic>
      <p:sp>
        <p:nvSpPr>
          <p:cNvPr id="8" name="TextBox 7">
            <a:extLst>
              <a:ext uri="{FF2B5EF4-FFF2-40B4-BE49-F238E27FC236}">
                <a16:creationId xmlns:a16="http://schemas.microsoft.com/office/drawing/2014/main" id="{7C71E8D7-3CBE-93AC-D92A-2E7C6C1F3920}"/>
              </a:ext>
            </a:extLst>
          </p:cNvPr>
          <p:cNvSpPr txBox="1"/>
          <p:nvPr/>
        </p:nvSpPr>
        <p:spPr>
          <a:xfrm>
            <a:off x="333247" y="515362"/>
            <a:ext cx="8982202" cy="584775"/>
          </a:xfrm>
          <a:prstGeom prst="rect">
            <a:avLst/>
          </a:prstGeom>
          <a:noFill/>
        </p:spPr>
        <p:txBody>
          <a:bodyPr wrap="none" rtlCol="0">
            <a:spAutoFit/>
          </a:bodyPr>
          <a:lstStyle/>
          <a:p>
            <a:r>
              <a:rPr lang="en-US" sz="3200">
                <a:latin typeface="Copperplate Gothic Bold" panose="020E0705020206020404" pitchFamily="34" charset="0"/>
              </a:rPr>
              <a:t>Basic </a:t>
            </a:r>
            <a:r>
              <a:rPr lang="en-US" sz="3200" i="1">
                <a:latin typeface="Copperplate Gothic Bold" panose="020E0705020206020404" pitchFamily="34" charset="0"/>
              </a:rPr>
              <a:t>Idea of Categories And Designs </a:t>
            </a:r>
            <a:endParaRPr lang="en-US" sz="3200" dirty="0">
              <a:latin typeface="Copperplate Gothic Bold" panose="020E0705020206020404" pitchFamily="34" charset="0"/>
            </a:endParaRPr>
          </a:p>
        </p:txBody>
      </p:sp>
      <p:sp>
        <p:nvSpPr>
          <p:cNvPr id="9" name="TextBox 8">
            <a:extLst>
              <a:ext uri="{FF2B5EF4-FFF2-40B4-BE49-F238E27FC236}">
                <a16:creationId xmlns:a16="http://schemas.microsoft.com/office/drawing/2014/main" id="{5BEBBEBF-BC4D-A358-9764-16C54302DA66}"/>
              </a:ext>
            </a:extLst>
          </p:cNvPr>
          <p:cNvSpPr txBox="1"/>
          <p:nvPr/>
        </p:nvSpPr>
        <p:spPr>
          <a:xfrm rot="10800000" flipV="1">
            <a:off x="219075" y="4419600"/>
            <a:ext cx="11753850" cy="1631216"/>
          </a:xfrm>
          <a:prstGeom prst="rect">
            <a:avLst/>
          </a:prstGeom>
          <a:noFill/>
        </p:spPr>
        <p:txBody>
          <a:bodyPr wrap="square" rtlCol="0">
            <a:spAutoFit/>
          </a:bodyPr>
          <a:lstStyle/>
          <a:p>
            <a:r>
              <a:rPr lang="en-US" sz="2000"/>
              <a:t>Our website is designed with simple and well-organized categories to help users easily find the products they need. Items are divided into sections such as clothing, accessories, electronics, and daily essentials, making browsing quick and efficient. The overall design is clean, modern, and user-friendly, ensuring smooth navigation for all users. With a clear layout and attractive interface, the platform enhances the user experience and makes buying and selling more convenient within the campus.</a:t>
            </a:r>
            <a:endParaRPr lang="en-US" sz="2000" dirty="0"/>
          </a:p>
        </p:txBody>
      </p:sp>
    </p:spTree>
    <p:extLst>
      <p:ext uri="{BB962C8B-B14F-4D97-AF65-F5344CB8AC3E}">
        <p14:creationId xmlns:p14="http://schemas.microsoft.com/office/powerpoint/2010/main" val="845699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02DA677-C58A-4FCE-A9A0-E66A42EBD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1" name="Picture 30">
            <a:extLst>
              <a:ext uri="{FF2B5EF4-FFF2-40B4-BE49-F238E27FC236}">
                <a16:creationId xmlns:a16="http://schemas.microsoft.com/office/drawing/2014/main" id="{9D85B319-9C30-4D92-B664-CA444ECD79B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3" name="Straight Connector 32">
            <a:extLst>
              <a:ext uri="{FF2B5EF4-FFF2-40B4-BE49-F238E27FC236}">
                <a16:creationId xmlns:a16="http://schemas.microsoft.com/office/drawing/2014/main" id="{D7573C1E-3785-43C9-A262-1DA9DF97F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85D4A50-6846-431E-A61E-5C6DC099CF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4" name="Picture 3">
            <a:extLst>
              <a:ext uri="{FF2B5EF4-FFF2-40B4-BE49-F238E27FC236}">
                <a16:creationId xmlns:a16="http://schemas.microsoft.com/office/drawing/2014/main" id="{A8A07C54-02CA-0A69-B50A-821E02F53041}"/>
              </a:ext>
            </a:extLst>
          </p:cNvPr>
          <p:cNvPicPr>
            <a:picLocks noChangeAspect="1"/>
          </p:cNvPicPr>
          <p:nvPr/>
        </p:nvPicPr>
        <p:blipFill>
          <a:blip r:embed="rId3">
            <a:extLst>
              <a:ext uri="{28A0092B-C50C-407E-A947-70E740481C1C}">
                <a14:useLocalDpi xmlns:a14="http://schemas.microsoft.com/office/drawing/2010/main" val="0"/>
              </a:ext>
            </a:extLst>
          </a:blip>
          <a:srcRect l="28085" r="27926" b="-1"/>
          <a:stretch>
            <a:fillRect/>
          </a:stretch>
        </p:blipFill>
        <p:spPr>
          <a:xfrm>
            <a:off x="2" y="10"/>
            <a:ext cx="6094409" cy="6857990"/>
          </a:xfrm>
          <a:prstGeom prst="rect">
            <a:avLst/>
          </a:prstGeom>
        </p:spPr>
      </p:pic>
      <p:pic>
        <p:nvPicPr>
          <p:cNvPr id="8" name="Picture 7">
            <a:extLst>
              <a:ext uri="{FF2B5EF4-FFF2-40B4-BE49-F238E27FC236}">
                <a16:creationId xmlns:a16="http://schemas.microsoft.com/office/drawing/2014/main" id="{BCB6D089-60F7-8710-A1D5-2720AE7C1DF7}"/>
              </a:ext>
            </a:extLst>
          </p:cNvPr>
          <p:cNvPicPr>
            <a:picLocks noChangeAspect="1"/>
          </p:cNvPicPr>
          <p:nvPr/>
        </p:nvPicPr>
        <p:blipFill>
          <a:blip r:embed="rId4">
            <a:extLst>
              <a:ext uri="{28A0092B-C50C-407E-A947-70E740481C1C}">
                <a14:useLocalDpi xmlns:a14="http://schemas.microsoft.com/office/drawing/2010/main" val="0"/>
              </a:ext>
            </a:extLst>
          </a:blip>
          <a:srcRect l="28080" r="27931" b="-1"/>
          <a:stretch>
            <a:fillRect/>
          </a:stretch>
        </p:blipFill>
        <p:spPr>
          <a:xfrm>
            <a:off x="6096051" y="10"/>
            <a:ext cx="6094409" cy="6857990"/>
          </a:xfrm>
          <a:prstGeom prst="rect">
            <a:avLst/>
          </a:prstGeom>
        </p:spPr>
      </p:pic>
      <p:sp>
        <p:nvSpPr>
          <p:cNvPr id="37" name="Rectangle 36">
            <a:extLst>
              <a:ext uri="{FF2B5EF4-FFF2-40B4-BE49-F238E27FC236}">
                <a16:creationId xmlns:a16="http://schemas.microsoft.com/office/drawing/2014/main" id="{D3356D18-B5E6-44B1-ADBC-7094E0DCC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87192" y="1353662"/>
            <a:ext cx="4414440" cy="4150676"/>
          </a:xfrm>
          <a:prstGeom prst="rect">
            <a:avLst/>
          </a:prstGeom>
          <a:solidFill>
            <a:srgbClr val="000001">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BE7A374D-06C5-4ECA-9F91-7183DD3D8A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3127" y="2579935"/>
            <a:ext cx="4070579" cy="0"/>
          </a:xfrm>
          <a:prstGeom prst="line">
            <a:avLst/>
          </a:prstGeom>
          <a:ln w="31750">
            <a:solidFill>
              <a:srgbClr val="2377FF"/>
            </a:solidFill>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56D8846B-6B13-80B6-614C-C551376B1B59}"/>
              </a:ext>
            </a:extLst>
          </p:cNvPr>
          <p:cNvSpPr txBox="1"/>
          <p:nvPr/>
        </p:nvSpPr>
        <p:spPr>
          <a:xfrm>
            <a:off x="4053128" y="2723314"/>
            <a:ext cx="4070578" cy="2613612"/>
          </a:xfrm>
          <a:prstGeom prst="rect">
            <a:avLst/>
          </a:prstGeom>
        </p:spPr>
        <p:txBody>
          <a:bodyPr vert="horz" lIns="91440" tIns="45720" rIns="91440" bIns="45720" rtlCol="0" anchor="t">
            <a:normAutofit/>
          </a:bodyPr>
          <a:lstStyle/>
          <a:p>
            <a:pPr defTabSz="914400">
              <a:lnSpc>
                <a:spcPct val="120000"/>
              </a:lnSpc>
              <a:spcAft>
                <a:spcPts val="600"/>
              </a:spcAft>
              <a:buClr>
                <a:srgbClr val="2377FF"/>
              </a:buClr>
              <a:buSzPct val="100000"/>
            </a:pPr>
            <a:r>
              <a:rPr lang="en-US" dirty="0">
                <a:solidFill>
                  <a:srgbClr val="FFFFFE"/>
                </a:solidFill>
              </a:rPr>
              <a:t>    Step 1: User logs in</a:t>
            </a:r>
          </a:p>
          <a:p>
            <a:pPr indent="-228600" defTabSz="914400">
              <a:lnSpc>
                <a:spcPct val="120000"/>
              </a:lnSpc>
              <a:spcAft>
                <a:spcPts val="600"/>
              </a:spcAft>
              <a:buClr>
                <a:srgbClr val="2377FF"/>
              </a:buClr>
              <a:buSzPct val="100000"/>
              <a:buFont typeface="Arial" panose="020B0604020202020204" pitchFamily="34" charset="0"/>
              <a:buChar char="•"/>
            </a:pPr>
            <a:r>
              <a:rPr lang="en-US" dirty="0">
                <a:solidFill>
                  <a:srgbClr val="FFFFFE"/>
                </a:solidFill>
              </a:rPr>
              <a:t>Step 2: Uploads product</a:t>
            </a:r>
          </a:p>
          <a:p>
            <a:pPr indent="-228600" defTabSz="914400">
              <a:lnSpc>
                <a:spcPct val="120000"/>
              </a:lnSpc>
              <a:spcAft>
                <a:spcPts val="600"/>
              </a:spcAft>
              <a:buClr>
                <a:srgbClr val="2377FF"/>
              </a:buClr>
              <a:buSzPct val="100000"/>
              <a:buFont typeface="Arial" panose="020B0604020202020204" pitchFamily="34" charset="0"/>
              <a:buChar char="•"/>
            </a:pPr>
            <a:r>
              <a:rPr lang="en-US" dirty="0">
                <a:solidFill>
                  <a:srgbClr val="FFFFFE"/>
                </a:solidFill>
              </a:rPr>
              <a:t>Step 3: Buyer connects</a:t>
            </a:r>
          </a:p>
          <a:p>
            <a:pPr indent="-228600" defTabSz="914400">
              <a:lnSpc>
                <a:spcPct val="120000"/>
              </a:lnSpc>
              <a:spcAft>
                <a:spcPts val="600"/>
              </a:spcAft>
              <a:buClr>
                <a:srgbClr val="2377FF"/>
              </a:buClr>
              <a:buSzPct val="100000"/>
              <a:buFont typeface="Arial" panose="020B0604020202020204" pitchFamily="34" charset="0"/>
              <a:buChar char="•"/>
            </a:pPr>
            <a:r>
              <a:rPr lang="en-US" dirty="0">
                <a:solidFill>
                  <a:srgbClr val="FFFFFE"/>
                </a:solidFill>
              </a:rPr>
              <a:t>Step 4: Deal done</a:t>
            </a:r>
          </a:p>
          <a:p>
            <a:pPr indent="-228600" defTabSz="914400">
              <a:lnSpc>
                <a:spcPct val="120000"/>
              </a:lnSpc>
              <a:spcAft>
                <a:spcPts val="600"/>
              </a:spcAft>
              <a:buClr>
                <a:srgbClr val="2377FF"/>
              </a:buClr>
              <a:buSzPct val="100000"/>
              <a:buFont typeface="Arial" panose="020B0604020202020204" pitchFamily="34" charset="0"/>
              <a:buChar char="•"/>
            </a:pPr>
            <a:r>
              <a:rPr lang="en-US" dirty="0">
                <a:solidFill>
                  <a:srgbClr val="FFFFFE"/>
                </a:solidFill>
              </a:rPr>
              <a:t>for this</a:t>
            </a:r>
          </a:p>
          <a:p>
            <a:pPr indent="-228600" defTabSz="914400">
              <a:lnSpc>
                <a:spcPct val="120000"/>
              </a:lnSpc>
              <a:buClr>
                <a:srgbClr val="2377FF"/>
              </a:buClr>
              <a:buSzPct val="100000"/>
              <a:buFont typeface="Arial" panose="020B0604020202020204" pitchFamily="34" charset="0"/>
              <a:buChar char="•"/>
            </a:pPr>
            <a:endParaRPr lang="en-US" dirty="0">
              <a:solidFill>
                <a:srgbClr val="FFFFFE"/>
              </a:solidFill>
            </a:endParaRPr>
          </a:p>
        </p:txBody>
      </p:sp>
      <p:sp>
        <p:nvSpPr>
          <p:cNvPr id="2" name="TextBox 1">
            <a:extLst>
              <a:ext uri="{FF2B5EF4-FFF2-40B4-BE49-F238E27FC236}">
                <a16:creationId xmlns:a16="http://schemas.microsoft.com/office/drawing/2014/main" id="{6F71EF04-891E-ECD0-9F7F-5008B835369F}"/>
              </a:ext>
            </a:extLst>
          </p:cNvPr>
          <p:cNvSpPr txBox="1"/>
          <p:nvPr/>
        </p:nvSpPr>
        <p:spPr>
          <a:xfrm>
            <a:off x="4053128" y="1530700"/>
            <a:ext cx="4070578" cy="104923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endParaRPr lang="en-US" sz="3200" cap="all" dirty="0">
              <a:solidFill>
                <a:srgbClr val="FFFFFE"/>
              </a:solidFill>
              <a:latin typeface="+mj-lt"/>
              <a:ea typeface="+mj-ea"/>
              <a:cs typeface="+mj-cs"/>
            </a:endParaRPr>
          </a:p>
        </p:txBody>
      </p:sp>
      <p:sp>
        <p:nvSpPr>
          <p:cNvPr id="11" name="TextBox 10">
            <a:extLst>
              <a:ext uri="{FF2B5EF4-FFF2-40B4-BE49-F238E27FC236}">
                <a16:creationId xmlns:a16="http://schemas.microsoft.com/office/drawing/2014/main" id="{27679E3C-8961-FD0A-C9F6-1A68D18CA754}"/>
              </a:ext>
            </a:extLst>
          </p:cNvPr>
          <p:cNvSpPr txBox="1"/>
          <p:nvPr/>
        </p:nvSpPr>
        <p:spPr>
          <a:xfrm>
            <a:off x="4531767" y="1799103"/>
            <a:ext cx="2942537" cy="646331"/>
          </a:xfrm>
          <a:prstGeom prst="rect">
            <a:avLst/>
          </a:prstGeom>
          <a:noFill/>
        </p:spPr>
        <p:txBody>
          <a:bodyPr wrap="none" rtlCol="0">
            <a:spAutoFit/>
          </a:bodyPr>
          <a:lstStyle/>
          <a:p>
            <a:r>
              <a:rPr lang="en-US" sz="3600" dirty="0">
                <a:solidFill>
                  <a:schemeClr val="bg1"/>
                </a:solidFill>
              </a:rPr>
              <a:t>How It works?</a:t>
            </a:r>
          </a:p>
        </p:txBody>
      </p:sp>
    </p:spTree>
    <p:extLst>
      <p:ext uri="{BB962C8B-B14F-4D97-AF65-F5344CB8AC3E}">
        <p14:creationId xmlns:p14="http://schemas.microsoft.com/office/powerpoint/2010/main" val="1560404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2F55EE-3039-1198-8281-80625837A42B}"/>
              </a:ext>
            </a:extLst>
          </p:cNvPr>
          <p:cNvSpPr txBox="1"/>
          <p:nvPr/>
        </p:nvSpPr>
        <p:spPr>
          <a:xfrm>
            <a:off x="466725" y="723900"/>
            <a:ext cx="4689938" cy="461665"/>
          </a:xfrm>
          <a:prstGeom prst="rect">
            <a:avLst/>
          </a:prstGeom>
          <a:noFill/>
        </p:spPr>
        <p:txBody>
          <a:bodyPr wrap="none" rtlCol="0">
            <a:spAutoFit/>
          </a:bodyPr>
          <a:lstStyle/>
          <a:p>
            <a:r>
              <a:rPr lang="en-US" sz="2400" dirty="0">
                <a:latin typeface="Copperplate Gothic Bold" panose="020E0705020206020404" pitchFamily="34" charset="0"/>
              </a:rPr>
              <a:t>Advantages And Benefits </a:t>
            </a:r>
          </a:p>
        </p:txBody>
      </p:sp>
      <p:sp>
        <p:nvSpPr>
          <p:cNvPr id="3" name="TextBox 2">
            <a:extLst>
              <a:ext uri="{FF2B5EF4-FFF2-40B4-BE49-F238E27FC236}">
                <a16:creationId xmlns:a16="http://schemas.microsoft.com/office/drawing/2014/main" id="{7D2D1B42-E427-40CE-2169-DB6E1206AC75}"/>
              </a:ext>
            </a:extLst>
          </p:cNvPr>
          <p:cNvSpPr txBox="1"/>
          <p:nvPr/>
        </p:nvSpPr>
        <p:spPr>
          <a:xfrm>
            <a:off x="609601" y="1371599"/>
            <a:ext cx="10934700" cy="1477328"/>
          </a:xfrm>
          <a:prstGeom prst="rect">
            <a:avLst/>
          </a:prstGeom>
          <a:noFill/>
        </p:spPr>
        <p:txBody>
          <a:bodyPr wrap="square" rtlCol="0">
            <a:spAutoFit/>
          </a:bodyPr>
          <a:lstStyle/>
          <a:p>
            <a:r>
              <a:rPr lang="en-US" dirty="0"/>
              <a:t>Our platform offers several advantages to students by making buying and selling easy and efficient within the campus. It saves time by providing all products in one place, eliminating the need to search through multiple WhatsApp groups. The organized system ensures better communication and quicker responses between buyers and sellers. It is user-friendly, reliable, and helps students find affordable items while also giving them an opportunity to sell unused products. Overall, it creates a convenient and trusted marketplace for the student community.</a:t>
            </a:r>
          </a:p>
        </p:txBody>
      </p:sp>
      <p:sp>
        <p:nvSpPr>
          <p:cNvPr id="4" name="TextBox 3">
            <a:extLst>
              <a:ext uri="{FF2B5EF4-FFF2-40B4-BE49-F238E27FC236}">
                <a16:creationId xmlns:a16="http://schemas.microsoft.com/office/drawing/2014/main" id="{5F6B8C5F-1C4C-1FFB-BFF3-CD6672857816}"/>
              </a:ext>
            </a:extLst>
          </p:cNvPr>
          <p:cNvSpPr txBox="1"/>
          <p:nvPr/>
        </p:nvSpPr>
        <p:spPr>
          <a:xfrm>
            <a:off x="682841" y="3198167"/>
            <a:ext cx="2551596" cy="461665"/>
          </a:xfrm>
          <a:prstGeom prst="rect">
            <a:avLst/>
          </a:prstGeom>
          <a:noFill/>
        </p:spPr>
        <p:txBody>
          <a:bodyPr wrap="none" rtlCol="0">
            <a:spAutoFit/>
          </a:bodyPr>
          <a:lstStyle/>
          <a:p>
            <a:r>
              <a:rPr lang="en-US" sz="2400" dirty="0">
                <a:latin typeface="Copperplate Gothic Bold" panose="020E0705020206020404" pitchFamily="34" charset="0"/>
              </a:rPr>
              <a:t>Future Scope</a:t>
            </a:r>
          </a:p>
        </p:txBody>
      </p:sp>
      <p:sp>
        <p:nvSpPr>
          <p:cNvPr id="8" name="TextBox 7">
            <a:extLst>
              <a:ext uri="{FF2B5EF4-FFF2-40B4-BE49-F238E27FC236}">
                <a16:creationId xmlns:a16="http://schemas.microsoft.com/office/drawing/2014/main" id="{B3CECAC1-E55D-614A-9B96-6A5863CE4299}"/>
              </a:ext>
            </a:extLst>
          </p:cNvPr>
          <p:cNvSpPr txBox="1"/>
          <p:nvPr/>
        </p:nvSpPr>
        <p:spPr>
          <a:xfrm>
            <a:off x="1105584" y="3751393"/>
            <a:ext cx="2128853" cy="923330"/>
          </a:xfrm>
          <a:prstGeom prst="rect">
            <a:avLst/>
          </a:prstGeom>
          <a:noFill/>
        </p:spPr>
        <p:txBody>
          <a:bodyPr wrap="none" rtlCol="0">
            <a:spAutoFit/>
          </a:bodyPr>
          <a:lstStyle/>
          <a:p>
            <a:r>
              <a:rPr lang="en-US" dirty="0"/>
              <a:t>Add Payment system</a:t>
            </a:r>
            <a:br>
              <a:rPr lang="en-US" dirty="0"/>
            </a:br>
            <a:r>
              <a:rPr lang="en-US" dirty="0"/>
              <a:t>Chat Feature</a:t>
            </a:r>
            <a:br>
              <a:rPr lang="en-US" dirty="0"/>
            </a:br>
            <a:r>
              <a:rPr lang="en-US" dirty="0"/>
              <a:t>Mobile App Version</a:t>
            </a:r>
          </a:p>
        </p:txBody>
      </p:sp>
    </p:spTree>
    <p:extLst>
      <p:ext uri="{BB962C8B-B14F-4D97-AF65-F5344CB8AC3E}">
        <p14:creationId xmlns:p14="http://schemas.microsoft.com/office/powerpoint/2010/main" val="4183399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AB17F6-592B-45CB-96F6-705C9825A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5EEAC3-71D4-45E4-67BF-0396207D1A62}"/>
              </a:ext>
            </a:extLst>
          </p:cNvPr>
          <p:cNvSpPr>
            <a:spLocks noGrp="1"/>
          </p:cNvSpPr>
          <p:nvPr>
            <p:ph type="ctrTitle"/>
          </p:nvPr>
        </p:nvSpPr>
        <p:spPr>
          <a:xfrm>
            <a:off x="5039068" y="802298"/>
            <a:ext cx="6015784" cy="5116985"/>
          </a:xfrm>
        </p:spPr>
        <p:txBody>
          <a:bodyPr anchor="ctr">
            <a:normAutofit/>
          </a:bodyPr>
          <a:lstStyle/>
          <a:p>
            <a:r>
              <a:rPr lang="en-US"/>
              <a:t>Conclusion </a:t>
            </a:r>
            <a:endParaRPr lang="en-US" dirty="0"/>
          </a:p>
        </p:txBody>
      </p:sp>
      <p:sp>
        <p:nvSpPr>
          <p:cNvPr id="3" name="Subtitle 2">
            <a:extLst>
              <a:ext uri="{FF2B5EF4-FFF2-40B4-BE49-F238E27FC236}">
                <a16:creationId xmlns:a16="http://schemas.microsoft.com/office/drawing/2014/main" id="{623557C7-CA10-B6E1-0A95-2C12F6A89FC3}"/>
              </a:ext>
            </a:extLst>
          </p:cNvPr>
          <p:cNvSpPr>
            <a:spLocks noGrp="1"/>
          </p:cNvSpPr>
          <p:nvPr>
            <p:ph type="subTitle" idx="1"/>
          </p:nvPr>
        </p:nvSpPr>
        <p:spPr>
          <a:xfrm>
            <a:off x="868352" y="802298"/>
            <a:ext cx="3401174" cy="5116985"/>
          </a:xfrm>
        </p:spPr>
        <p:txBody>
          <a:bodyPr anchor="ctr">
            <a:normAutofit/>
          </a:bodyPr>
          <a:lstStyle/>
          <a:p>
            <a:pPr algn="r">
              <a:lnSpc>
                <a:spcPct val="110000"/>
              </a:lnSpc>
            </a:pPr>
            <a:r>
              <a:rPr lang="en-US" sz="1600" dirty="0"/>
              <a:t>In conclusion, our website provides a simple and effective solution to the problems students face while buying and selling products within the campus. By replacing unorganized communication methods with a structured platform, it makes the process faster, easier, and more reliable. This project not only improves convenience but also creates a connected and efficient student marketplace, making everyday transactions smoother and more accessible for everyone.</a:t>
            </a:r>
          </a:p>
        </p:txBody>
      </p:sp>
      <p:cxnSp>
        <p:nvCxnSpPr>
          <p:cNvPr id="20" name="Straight Connector 19">
            <a:extLst>
              <a:ext uri="{FF2B5EF4-FFF2-40B4-BE49-F238E27FC236}">
                <a16:creationId xmlns:a16="http://schemas.microsoft.com/office/drawing/2014/main" id="{5A9284E7-0823-472D-9963-18D89DFEB8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760590"/>
            <a:ext cx="0" cy="3200400"/>
          </a:xfrm>
          <a:prstGeom prst="line">
            <a:avLst/>
          </a:prstGeom>
          <a:ln w="349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13550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CF525-C384-B8A9-E206-088A98D3819C}"/>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1000C204-4842-500D-B326-F587768E458E}"/>
              </a:ext>
            </a:extLst>
          </p:cNvPr>
          <p:cNvSpPr>
            <a:spLocks noGrp="1"/>
          </p:cNvSpPr>
          <p:nvPr>
            <p:ph type="body" idx="1"/>
          </p:nvPr>
        </p:nvSpPr>
        <p:spPr/>
        <p:txBody>
          <a:bodyPr/>
          <a:lstStyle/>
          <a:p>
            <a:r>
              <a:rPr lang="en-US" dirty="0"/>
              <a:t>Submitted By:</a:t>
            </a:r>
          </a:p>
        </p:txBody>
      </p:sp>
      <p:sp>
        <p:nvSpPr>
          <p:cNvPr id="4" name="Content Placeholder 3">
            <a:extLst>
              <a:ext uri="{FF2B5EF4-FFF2-40B4-BE49-F238E27FC236}">
                <a16:creationId xmlns:a16="http://schemas.microsoft.com/office/drawing/2014/main" id="{E86B4749-E0EB-57C8-3E19-584C04B11FBC}"/>
              </a:ext>
            </a:extLst>
          </p:cNvPr>
          <p:cNvSpPr>
            <a:spLocks noGrp="1"/>
          </p:cNvSpPr>
          <p:nvPr>
            <p:ph sz="half" idx="2"/>
          </p:nvPr>
        </p:nvSpPr>
        <p:spPr/>
        <p:txBody>
          <a:bodyPr/>
          <a:lstStyle/>
          <a:p>
            <a:r>
              <a:rPr lang="en-US" dirty="0"/>
              <a:t>Kashyap Gupta(2510993320)</a:t>
            </a:r>
          </a:p>
          <a:p>
            <a:r>
              <a:rPr lang="en-US" dirty="0"/>
              <a:t>Mohana(2510993329)</a:t>
            </a:r>
          </a:p>
          <a:p>
            <a:r>
              <a:rPr lang="en-US" dirty="0"/>
              <a:t>Yashik Mittal(2510993350)</a:t>
            </a:r>
          </a:p>
          <a:p>
            <a:r>
              <a:rPr lang="en-US" dirty="0"/>
              <a:t>Sadhana(2510993368)</a:t>
            </a:r>
          </a:p>
          <a:p>
            <a:endParaRPr lang="en-US" dirty="0"/>
          </a:p>
        </p:txBody>
      </p:sp>
      <p:sp>
        <p:nvSpPr>
          <p:cNvPr id="5" name="Text Placeholder 4">
            <a:extLst>
              <a:ext uri="{FF2B5EF4-FFF2-40B4-BE49-F238E27FC236}">
                <a16:creationId xmlns:a16="http://schemas.microsoft.com/office/drawing/2014/main" id="{010E8228-0DD2-454B-E27C-9A885C2CB0C6}"/>
              </a:ext>
            </a:extLst>
          </p:cNvPr>
          <p:cNvSpPr>
            <a:spLocks noGrp="1"/>
          </p:cNvSpPr>
          <p:nvPr>
            <p:ph type="body" sz="quarter" idx="3"/>
          </p:nvPr>
        </p:nvSpPr>
        <p:spPr/>
        <p:txBody>
          <a:bodyPr/>
          <a:lstStyle/>
          <a:p>
            <a:r>
              <a:rPr lang="en-US" dirty="0"/>
              <a:t>Submitted to:</a:t>
            </a:r>
          </a:p>
        </p:txBody>
      </p:sp>
      <p:sp>
        <p:nvSpPr>
          <p:cNvPr id="6" name="Content Placeholder 5">
            <a:extLst>
              <a:ext uri="{FF2B5EF4-FFF2-40B4-BE49-F238E27FC236}">
                <a16:creationId xmlns:a16="http://schemas.microsoft.com/office/drawing/2014/main" id="{C73B7696-E2B9-C91D-D682-AD53B126117C}"/>
              </a:ext>
            </a:extLst>
          </p:cNvPr>
          <p:cNvSpPr>
            <a:spLocks noGrp="1"/>
          </p:cNvSpPr>
          <p:nvPr>
            <p:ph sz="quarter" idx="4"/>
          </p:nvPr>
        </p:nvSpPr>
        <p:spPr/>
        <p:txBody>
          <a:bodyPr/>
          <a:lstStyle/>
          <a:p>
            <a:r>
              <a:rPr lang="en-US" dirty="0"/>
              <a:t>Mr. Sourabh</a:t>
            </a:r>
          </a:p>
        </p:txBody>
      </p:sp>
    </p:spTree>
    <p:extLst>
      <p:ext uri="{BB962C8B-B14F-4D97-AF65-F5344CB8AC3E}">
        <p14:creationId xmlns:p14="http://schemas.microsoft.com/office/powerpoint/2010/main" val="365186393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169</TotalTime>
  <Words>741</Words>
  <Application>Microsoft Office PowerPoint</Application>
  <PresentationFormat>Widescreen</PresentationFormat>
  <Paragraphs>39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Congenial SemiBold</vt:lpstr>
      <vt:lpstr>Copperplate Gothic Bold</vt:lpstr>
      <vt:lpstr>Gill Sans MT</vt:lpstr>
      <vt:lpstr>Gallery</vt:lpstr>
      <vt:lpstr>UniSwap</vt:lpstr>
      <vt:lpstr>Problem We Identified</vt:lpstr>
      <vt:lpstr>PowerPoint Presentation</vt:lpstr>
      <vt:lpstr>PowerPoint Presentation</vt:lpstr>
      <vt:lpstr>PowerPoint Presentation</vt:lpstr>
      <vt:lpstr>PowerPoint Presentation</vt:lpstr>
      <vt:lpstr>PowerPoint Presentation</vt:lpstr>
      <vt:lpstr>PowerPoint Presentation</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Mohana</dc:creator>
  <cp:lastModifiedBy>Mohana</cp:lastModifiedBy>
  <cp:revision>5</cp:revision>
  <dcterms:created xsi:type="dcterms:W3CDTF">2026-03-26T10:13:51Z</dcterms:created>
  <dcterms:modified xsi:type="dcterms:W3CDTF">2026-03-31T05:08:15Z</dcterms:modified>
</cp:coreProperties>
</file>